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8" r:id="rId7"/>
    <p:sldId id="269" r:id="rId8"/>
    <p:sldId id="262" r:id="rId9"/>
    <p:sldId id="265" r:id="rId10"/>
    <p:sldId id="266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ExtraBold" panose="020B0604020202020204" charset="0"/>
      <p:bold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7EB8AA-16A4-42C1-A3ED-AC022595C0FA}">
  <a:tblStyle styleId="{577EB8AA-16A4-42C1-A3ED-AC022595C0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EC1158F0-F9ED-EAE0-873D-DF7C1FBE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C702534E-48D5-55D4-2EC6-E1CEBC136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FB3C54B0-5059-8089-A8EC-CABBFE83E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8076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C0F1F87D-555A-80DE-6674-0EFCE544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9FECA1E9-F896-5556-26DD-E0B9D79C2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>
            <a:extLst>
              <a:ext uri="{FF2B5EF4-FFF2-40B4-BE49-F238E27FC236}">
                <a16:creationId xmlns:a16="http://schemas.microsoft.com/office/drawing/2014/main" id="{D8C3A582-9FC7-67E6-59D3-22D25F4E2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9248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_PRESENTATION OUTLINE MASTERING DATABASE MIGRATION.png"/>
          <p:cNvPicPr preferRelativeResize="0"/>
          <p:nvPr/>
        </p:nvPicPr>
        <p:blipFill rotWithShape="1">
          <a:blip r:embed="rId3">
            <a:alphaModFix/>
          </a:blip>
          <a:srcRect t="21875" b="21875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6192"/>
            <a:ext cx="5238750" cy="4928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36193"/>
            <a:ext cx="5238750" cy="492861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WHAT MIGRATIONS ARE AND WHY THEY MATTER</a:t>
            </a:r>
            <a:endParaRPr dirty="0"/>
          </a:p>
        </p:txBody>
      </p:sp>
      <p:sp>
        <p:nvSpPr>
          <p:cNvPr id="93" name="Google Shape;93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50582" y="1628775"/>
            <a:ext cx="46805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ADD8"/>
                </a:solidFill>
                <a:latin typeface="Inter ExtraBold"/>
                <a:ea typeface="Inter ExtraBold"/>
                <a:sym typeface="Inter ExtraBold"/>
              </a:rPr>
              <a:t>WHAT ARE THEY?</a:t>
            </a:r>
            <a:endParaRPr sz="16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39140" y="2276475"/>
            <a:ext cx="445770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Database migrations are: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Version-controlled database changes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Structured updates to database schemas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way to keep databases consistent across environments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Creating tables, Adding columns, Updating indexes and Removing obsolete fields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“Migrations are like Git for your database”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660833" y="1628775"/>
            <a:ext cx="46805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ADD8"/>
                </a:solidFill>
                <a:latin typeface="Inter ExtraBold"/>
                <a:ea typeface="Inter ExtraBold"/>
                <a:sym typeface="Inter ExtraBold"/>
              </a:rPr>
              <a:t>WHY MIGRATIONS?</a:t>
            </a:r>
            <a:endParaRPr sz="16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883718" y="2189607"/>
            <a:ext cx="4457700" cy="3299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Ensures every developer and environment (Dev, Staging, Prod) has the exact same database structure at any given commit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Version control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Team collaboration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Reliable deployments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Easy rollback support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Better CI/CD workflows.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TOOL ECOSYSTEM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2CCCED-30F5-DF8A-7247-8F2AEE57A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934625"/>
              </p:ext>
            </p:extLst>
          </p:nvPr>
        </p:nvGraphicFramePr>
        <p:xfrm>
          <a:off x="831839" y="1719072"/>
          <a:ext cx="9619753" cy="3968495"/>
        </p:xfrm>
        <a:graphic>
          <a:graphicData uri="http://schemas.openxmlformats.org/drawingml/2006/table">
            <a:tbl>
              <a:tblPr firstRow="1" bandRow="1">
                <a:tableStyleId>{577EB8AA-16A4-42C1-A3ED-AC022595C0FA}</a:tableStyleId>
              </a:tblPr>
              <a:tblGrid>
                <a:gridCol w="3102952">
                  <a:extLst>
                    <a:ext uri="{9D8B030D-6E8A-4147-A177-3AD203B41FA5}">
                      <a16:colId xmlns:a16="http://schemas.microsoft.com/office/drawing/2014/main" val="3295608704"/>
                    </a:ext>
                  </a:extLst>
                </a:gridCol>
                <a:gridCol w="1799126">
                  <a:extLst>
                    <a:ext uri="{9D8B030D-6E8A-4147-A177-3AD203B41FA5}">
                      <a16:colId xmlns:a16="http://schemas.microsoft.com/office/drawing/2014/main" val="2954937055"/>
                    </a:ext>
                  </a:extLst>
                </a:gridCol>
                <a:gridCol w="4717675">
                  <a:extLst>
                    <a:ext uri="{9D8B030D-6E8A-4147-A177-3AD203B41FA5}">
                      <a16:colId xmlns:a16="http://schemas.microsoft.com/office/drawing/2014/main" val="292277097"/>
                    </a:ext>
                  </a:extLst>
                </a:gridCol>
              </a:tblGrid>
              <a:tr h="793699">
                <a:tc>
                  <a:txBody>
                    <a:bodyPr/>
                    <a:lstStyle/>
                    <a:p>
                      <a:r>
                        <a:rPr lang="en-US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358194"/>
                  </a:ext>
                </a:extLst>
              </a:tr>
              <a:tr h="793699">
                <a:tc>
                  <a:txBody>
                    <a:bodyPr/>
                    <a:lstStyle/>
                    <a:p>
                      <a:r>
                        <a:rPr lang="en-US" sz="1800" dirty="0" err="1"/>
                        <a:t>golang</a:t>
                      </a:r>
                      <a:r>
                        <a:rPr lang="en-US" sz="1800" dirty="0"/>
                        <a:t>-migrate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Pure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Industry standard; massive database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73134"/>
                  </a:ext>
                </a:extLst>
              </a:tr>
              <a:tr h="793699">
                <a:tc>
                  <a:txBody>
                    <a:bodyPr/>
                    <a:lstStyle/>
                    <a:p>
                      <a:r>
                        <a:rPr lang="en-US" sz="1800" dirty="0"/>
                        <a:t>goose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SQL +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Allows complex data transformations in pure Go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405428"/>
                  </a:ext>
                </a:extLst>
              </a:tr>
              <a:tr h="793699">
                <a:tc>
                  <a:txBody>
                    <a:bodyPr/>
                    <a:lstStyle/>
                    <a:p>
                      <a:r>
                        <a:rPr lang="en-US" sz="1800" dirty="0" err="1"/>
                        <a:t>ent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Schema-driven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ORM that automatically generates migrations from structs.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75354"/>
                  </a:ext>
                </a:extLst>
              </a:tr>
              <a:tr h="793699">
                <a:tc>
                  <a:txBody>
                    <a:bodyPr/>
                    <a:lstStyle/>
                    <a:p>
                      <a:r>
                        <a:rPr lang="en-US" sz="1800" dirty="0" err="1"/>
                        <a:t>sql</a:t>
                      </a:r>
                      <a:r>
                        <a:rPr lang="en-US" sz="1800" dirty="0"/>
                        <a:t>-migrate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Focuses on simplicity and Gorp-based compatibility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9361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9888"/>
            <a:ext cx="5238750" cy="4727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389889"/>
            <a:ext cx="5238750" cy="472744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GOLANG-MIGRATE </a:t>
            </a:r>
            <a:r>
              <a:rPr lang="en-US" sz="3150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AND HOW IT WORKS</a:t>
            </a:r>
            <a:endParaRPr dirty="0"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1514284"/>
            <a:ext cx="46805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golang</a:t>
            </a:r>
            <a:r>
              <a:rPr lang="en-US" sz="1600" b="0" i="0" u="none" strike="noStrike" cap="none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-migrate</a:t>
            </a:r>
            <a:endParaRPr sz="1600"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899350" y="1923859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A migration tool designed for Go applications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899350" y="2242352"/>
            <a:ext cx="445770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Features: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Database schema versioning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Up &amp; down migrations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CLI and Go package support</a:t>
            </a: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Multiple database support: PostgreSQL, MySQL, SQLite </a:t>
            </a:r>
          </a:p>
          <a:p>
            <a:pPr lvl="0">
              <a:lnSpc>
                <a:spcPct val="160000"/>
              </a:lnSpc>
            </a:pPr>
            <a:endParaRPr lang="en-US" sz="1500" dirty="0">
              <a:solidFill>
                <a:srgbClr val="94A3B8"/>
              </a:solidFill>
              <a:latin typeface="Inter"/>
              <a:ea typeface="Inter"/>
              <a:sym typeface="Inter"/>
            </a:endParaRP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Official Repo:</a:t>
            </a: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https://github.com/golang-migrate/migrate</a:t>
            </a:r>
          </a:p>
        </p:txBody>
      </p:sp>
      <p:sp>
        <p:nvSpPr>
          <p:cNvPr id="152" name="Google Shape;152;p17"/>
          <p:cNvSpPr txBox="1"/>
          <p:nvPr/>
        </p:nvSpPr>
        <p:spPr>
          <a:xfrm>
            <a:off x="6772275" y="1514283"/>
            <a:ext cx="46805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How it works</a:t>
            </a:r>
            <a:endParaRPr sz="1600"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772275" y="1923859"/>
            <a:ext cx="4520375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Each migration contains: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Up Migration 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which applies changes</a:t>
            </a:r>
            <a:endParaRPr lang="en-US" sz="1500" b="1" dirty="0">
              <a:solidFill>
                <a:srgbClr val="94A3B8"/>
              </a:solidFill>
              <a:latin typeface="Inter"/>
              <a:ea typeface="Inter"/>
              <a:sym typeface="Inter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Down Migration 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which reverts changes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Follows a naming convention: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Sequential numbering/</a:t>
            </a:r>
            <a:r>
              <a:rPr lang="en-US" sz="1500" dirty="0" err="1">
                <a:solidFill>
                  <a:srgbClr val="94A3B8"/>
                </a:solidFill>
                <a:latin typeface="Inter"/>
                <a:ea typeface="Inter"/>
                <a:sym typeface="Inter"/>
              </a:rPr>
              <a:t>TimeStamps</a:t>
            </a:r>
            <a:endParaRPr lang="en-US" sz="1500" dirty="0">
              <a:solidFill>
                <a:srgbClr val="94A3B8"/>
              </a:solidFill>
              <a:latin typeface="Inter"/>
              <a:ea typeface="Inter"/>
              <a:sym typeface="Inter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Descriptive names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Separate up/down files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94A3B8"/>
              </a:solidFill>
              <a:latin typeface="Inter"/>
              <a:ea typeface="Inter"/>
              <a:sym typeface="Inter"/>
            </a:endParaRP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000001_create_users_table.up.sql</a:t>
            </a: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000001_create_users_table.down.sql</a:t>
            </a:r>
            <a:endParaRPr sz="1500" b="1" dirty="0">
              <a:solidFill>
                <a:srgbClr val="94A3B8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66874"/>
            <a:ext cx="3492549" cy="3568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66875"/>
            <a:ext cx="3492549" cy="356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66874"/>
            <a:ext cx="3492549" cy="34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ENTITY WORKFLOW</a:t>
            </a:r>
            <a:endParaRPr dirty="0"/>
          </a:p>
        </p:txBody>
      </p:sp>
      <p:sp>
        <p:nvSpPr>
          <p:cNvPr id="165" name="Google Shape;165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857250" y="260985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1. Define Struct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57250" y="3019425"/>
            <a:ext cx="292104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Create your Go model representing the database entity.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Or if using </a:t>
            </a:r>
            <a:r>
              <a:rPr lang="en-US" sz="1500" dirty="0" err="1">
                <a:solidFill>
                  <a:srgbClr val="94A3B8"/>
                </a:solidFill>
                <a:latin typeface="Inter"/>
                <a:ea typeface="Inter"/>
                <a:sym typeface="Inter"/>
              </a:rPr>
              <a:t>sqlc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, you would just relax so it creates your Go model structs for you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4635549" y="260985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2. Create Migration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635549" y="301942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 Up/Down SQL files with schema changes.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413849" y="260985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3. Execute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413849" y="3019425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Run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m.Up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() programmatically at app startup.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Or use the CLI </a:t>
            </a:r>
            <a:endParaRPr dirty="0"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9907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35549" y="19907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3849" y="19907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07;p20">
            <a:extLst>
              <a:ext uri="{FF2B5EF4-FFF2-40B4-BE49-F238E27FC236}">
                <a16:creationId xmlns:a16="http://schemas.microsoft.com/office/drawing/2014/main" id="{046CCFFD-27DF-62A9-D755-716E7A0AF141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5549" y="4029076"/>
            <a:ext cx="3067102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60BA88B3-A13A-751F-0640-AD49098B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>
            <a:extLst>
              <a:ext uri="{FF2B5EF4-FFF2-40B4-BE49-F238E27FC236}">
                <a16:creationId xmlns:a16="http://schemas.microsoft.com/office/drawing/2014/main" id="{100B5B08-84BA-7D49-3D8D-49AE82A2E2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>
            <a:extLst>
              <a:ext uri="{FF2B5EF4-FFF2-40B4-BE49-F238E27FC236}">
                <a16:creationId xmlns:a16="http://schemas.microsoft.com/office/drawing/2014/main" id="{87AE4F16-9077-557C-710E-E4A3DA2D22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91661"/>
            <a:ext cx="11187684" cy="508170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F1A74627-B46A-261E-4D05-88E3FED447C2}"/>
              </a:ext>
            </a:extLst>
          </p:cNvPr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CREATING MIGRATIONS</a:t>
            </a:r>
            <a:endParaRPr dirty="0"/>
          </a:p>
        </p:txBody>
      </p:sp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922164C9-D7A4-4930-093C-28DB9A75A176}"/>
              </a:ext>
            </a:extLst>
          </p:cNvPr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7F6A4F71-11C2-6AFE-7643-C886A204BE7E}"/>
              </a:ext>
            </a:extLst>
          </p:cNvPr>
          <p:cNvSpPr txBox="1"/>
          <p:nvPr/>
        </p:nvSpPr>
        <p:spPr>
          <a:xfrm>
            <a:off x="1082230" y="1252335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Example integration in Go Code, programmatically</a:t>
            </a:r>
            <a:endParaRPr sz="1500" dirty="0">
              <a:solidFill>
                <a:srgbClr val="94A3B8"/>
              </a:solidFill>
              <a:latin typeface="Inter"/>
              <a:ea typeface="Int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42660-DA0A-7D78-A9EB-33BE3DA53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58" y="3429000"/>
            <a:ext cx="8579358" cy="2780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77099E-E500-D90C-D252-1A4A71520D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" y="1996678"/>
            <a:ext cx="6410221" cy="5287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C7348C-D94A-CF94-8DEF-D219391C7A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258" y="2597278"/>
            <a:ext cx="8046997" cy="69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64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42">
          <a:extLst>
            <a:ext uri="{FF2B5EF4-FFF2-40B4-BE49-F238E27FC236}">
              <a16:creationId xmlns:a16="http://schemas.microsoft.com/office/drawing/2014/main" id="{0118642E-F7F5-EA17-77C0-FBEB3333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>
            <a:extLst>
              <a:ext uri="{FF2B5EF4-FFF2-40B4-BE49-F238E27FC236}">
                <a16:creationId xmlns:a16="http://schemas.microsoft.com/office/drawing/2014/main" id="{3FE24F7B-B70E-E18A-8114-9137DFFA87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>
            <a:extLst>
              <a:ext uri="{FF2B5EF4-FFF2-40B4-BE49-F238E27FC236}">
                <a16:creationId xmlns:a16="http://schemas.microsoft.com/office/drawing/2014/main" id="{E851F388-95AD-8560-E2FB-B0AC115B8C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908" y="1291660"/>
            <a:ext cx="5314950" cy="508170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46B197AC-188A-DEB9-BEC3-01D8C5A3E458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>
                <a:solidFill>
                  <a:srgbClr val="00ADD8"/>
                </a:solidFill>
                <a:latin typeface="Inter ExtraBold"/>
                <a:ea typeface="Inter ExtraBold"/>
                <a:sym typeface="Inter ExtraBold"/>
              </a:rPr>
              <a:t>COMMON PROBLEMS &amp; BEST PRACTICES</a:t>
            </a:r>
            <a:endParaRPr dirty="0"/>
          </a:p>
        </p:txBody>
      </p:sp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6ACE3F7C-0624-DA6D-6006-69A80E219F96}"/>
              </a:ext>
            </a:extLst>
          </p:cNvPr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61D4B17B-79FA-43A2-5287-CEE878421D4F}"/>
              </a:ext>
            </a:extLst>
          </p:cNvPr>
          <p:cNvSpPr txBox="1"/>
          <p:nvPr/>
        </p:nvSpPr>
        <p:spPr>
          <a:xfrm>
            <a:off x="571500" y="1431856"/>
            <a:ext cx="4827269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You might run into a dirty database state if a migration fails halfway. This could be due to: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Database server restarting before a migration could complete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Typo in a SQL statement or trying to create a table which already exists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Race conditions or locking issues when multiple instances of a Go app start simultaneously, etc.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The </a:t>
            </a:r>
            <a:r>
              <a:rPr lang="en-US" sz="1500" i="1" dirty="0">
                <a:solidFill>
                  <a:srgbClr val="94A3B8"/>
                </a:solidFill>
                <a:latin typeface="Inter"/>
                <a:ea typeface="Inter"/>
              </a:rPr>
              <a:t>migrate force version 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is your fix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i="1" dirty="0">
              <a:solidFill>
                <a:srgbClr val="94A3B8"/>
              </a:solidFill>
              <a:latin typeface="Inter"/>
              <a:ea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This forces the migration to the last successful version</a:t>
            </a:r>
            <a:endParaRPr sz="1500" dirty="0">
              <a:solidFill>
                <a:srgbClr val="94A3B8"/>
              </a:solidFill>
              <a:latin typeface="Inter"/>
              <a:ea typeface="Inter"/>
            </a:endParaRPr>
          </a:p>
        </p:txBody>
      </p:sp>
      <p:pic>
        <p:nvPicPr>
          <p:cNvPr id="7" name="Google Shape;144;p17" descr="image.png">
            <a:extLst>
              <a:ext uri="{FF2B5EF4-FFF2-40B4-BE49-F238E27FC236}">
                <a16:creationId xmlns:a16="http://schemas.microsoft.com/office/drawing/2014/main" id="{B7FA07FC-BFA3-E750-B552-A65195DDBF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4536" y="1291660"/>
            <a:ext cx="5314950" cy="508170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92C99C-7CA3-D2B7-0AD0-27D2FC9D2373}"/>
              </a:ext>
            </a:extLst>
          </p:cNvPr>
          <p:cNvSpPr txBox="1"/>
          <p:nvPr/>
        </p:nvSpPr>
        <p:spPr>
          <a:xfrm>
            <a:off x="6984492" y="1708854"/>
            <a:ext cx="449503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your very first file for DB extensions and basic setup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50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Always be explicit in your queries. Especially when using </a:t>
            </a:r>
            <a:r>
              <a:rPr lang="en-US" sz="15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sqlc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sz="15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sqlx</a:t>
            </a:r>
            <a:endParaRPr lang="en-US" sz="150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Keep migrations small</a:t>
            </a:r>
          </a:p>
          <a:p>
            <a:pPr>
              <a:buClr>
                <a:schemeClr val="bg1"/>
              </a:buClr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Use descriptive names</a:t>
            </a:r>
          </a:p>
          <a:p>
            <a:pPr>
              <a:buClr>
                <a:schemeClr val="bg1"/>
              </a:buClr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Always create rollback scripts</a:t>
            </a:r>
          </a:p>
          <a:p>
            <a:pPr>
              <a:buClr>
                <a:schemeClr val="bg1"/>
              </a:buClr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Never modify old production migrations</a:t>
            </a:r>
          </a:p>
          <a:p>
            <a:pPr>
              <a:buClr>
                <a:schemeClr val="bg1"/>
              </a:buClr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Test migrations before deployment</a:t>
            </a:r>
          </a:p>
          <a:p>
            <a:pPr>
              <a:buClr>
                <a:schemeClr val="bg1"/>
              </a:buClr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</a:rPr>
              <a:t>Backup production databases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500" dirty="0">
              <a:solidFill>
                <a:srgbClr val="94A3B8"/>
              </a:solidFill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708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871537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GOLDEN TRIANGLE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871537"/>
            <a:ext cx="57150" cy="971550"/>
          </a:xfrm>
          <a:prstGeom prst="rect">
            <a:avLst/>
          </a:prstGeom>
          <a:solidFill>
            <a:srgbClr val="00AD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222408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Migrations + sqlc = Safety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28241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Migrations: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Define the schema (Source of Truth).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5099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sqlc: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Reads migrations and generates type-safe code.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45005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Code: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Consumes code. If schema changes, compilation fails.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4911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AD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Eliminate runtime "column not found" errors forever.</a:t>
            </a:r>
            <a:endParaRPr/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850" y="1528750"/>
            <a:ext cx="5200650" cy="41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143000" y="2126158"/>
            <a:ext cx="10401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00ADD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Reliable Systems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143000" y="3040558"/>
            <a:ext cx="57150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 migrations are not just a tool, but a discipline. By mastering them in Go, you ensure your data architecture evolves with the same rigor as your code.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295275" y="2016472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Questions?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3130897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joining the session on Go Migrations.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Inter SemiBold</vt:lpstr>
      <vt:lpstr>Inter ExtraBold</vt:lpstr>
      <vt:lpstr>Calibri</vt:lpstr>
      <vt:lpstr>Wingdings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Bright Agyemang</cp:lastModifiedBy>
  <cp:revision>1</cp:revision>
  <dcterms:modified xsi:type="dcterms:W3CDTF">2026-05-10T18:36:47Z</dcterms:modified>
</cp:coreProperties>
</file>